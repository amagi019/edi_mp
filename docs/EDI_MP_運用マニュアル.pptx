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EDI_MP 運用マニュアル</a:t>
            </a:r>
          </a:p>
          <a:p>
            <a:pPr algn="ctr">
              <a:spcBef>
                <a:spcPts val="1600"/>
              </a:spcBef>
              <a:spcAft>
                <a:spcPts val="200"/>
              </a:spcAft>
            </a:pPr>
            <a:r>
              <a:rPr sz="2200" b="0">
                <a:solidFill>
                  <a:srgbClr val="94A3B8"/>
                </a:solidFill>
                <a:latin typeface="Meiryo"/>
              </a:rPr>
              <a:t>注文書・請求書 作業フロー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eiryo"/>
              </a:rPr>
              <a:t>2026年3月 作成 | マックプランニング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0175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全体フロー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366F1"/>
                </a:solidFill>
                <a:latin typeface="Meiryo"/>
              </a:rPr>
              <a:t>① パートナー登録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admin画面からパートナーを登録し、招待メールを送信</a:t>
            </a:r>
          </a:p>
        </p:txBody>
      </p:sp>
      <p:sp>
        <p:nvSpPr>
          <p:cNvPr id="5" name="Down Arrow 4"/>
          <p:cNvSpPr/>
          <p:nvPr/>
        </p:nvSpPr>
        <p:spPr>
          <a:xfrm>
            <a:off x="2194560" y="201168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004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366F1"/>
                </a:solidFill>
                <a:latin typeface="Meiryo"/>
              </a:rPr>
              <a:t>② 基本契約 締結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契約書PDFをアップロード、パートナーが承認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94560" y="283464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32004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6366F1"/>
                </a:solidFill>
                <a:latin typeface="Meiryo"/>
              </a:rPr>
              <a:t>③ 注文基本情報 登録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作業者・単価・精算条件のテンプレートを登録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06240" y="2331720"/>
            <a:ext cx="73152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④ 毎月のルーティン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6400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500" b="1">
                <a:solidFill>
                  <a:srgbClr val="10B981"/>
                </a:solidFill>
                <a:latin typeface="Meiryo"/>
              </a:rPr>
              <a:t>📄 注文書作成・発行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eiryo"/>
              </a:rPr>
              <a:t>ワンクリックでドラフト作成 → 編集 → 正式発行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6400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500" b="1">
                <a:solidFill>
                  <a:srgbClr val="F59E0B"/>
                </a:solidFill>
                <a:latin typeface="Meiryo"/>
              </a:rPr>
              <a:t>📊 稼働報告書 受領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eiryo"/>
              </a:rPr>
              <a:t>パートナーがExcelアップロード → 自動パース → 承認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840480"/>
            <a:ext cx="6400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500" b="1">
                <a:solidFill>
                  <a:srgbClr val="3B82F6"/>
                </a:solidFill>
                <a:latin typeface="Meiryo"/>
              </a:rPr>
              <a:t>💰 請求書作成・発行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eiryo"/>
              </a:rPr>
              <a:t>自動 or 手動で作成 → 稼働時間入力 → 確認依頼 → 承認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2120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Meiryo"/>
              </a:rPr>
              <a:t>💡 注文書・請求書は同じ「注文基本情報一覧」からワンクリックで作成できます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0B981"/>
                </a:solidFill>
                <a:latin typeface="Meiryo"/>
              </a:rPr>
              <a:t>📄 注文書の作成・発行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4475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注文基本情報一覧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51760" y="196596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963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注文書 編集画面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97180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45643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0215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正式発行する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651760" y="397764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46227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079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パートナーへメール通知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651760" y="498348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468112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138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パートナーがPDF閲覧=承認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188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Meiryo"/>
              </a:rPr>
              <a:t>操作手順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/>
            <a:r>
              <a:rPr sz="1000" b="0">
                <a:solidFill>
                  <a:srgbClr val="F1F5F9"/>
                </a:solidFill>
                <a:latin typeface="Meiryo"/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操作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サイドバー「注文基本情報」→ 対象案件の「注文書作成」ボタン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自動処理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翌月分のドラフトが自動作成され、編集画面に遷移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確認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日付・担当者・明細を確認、必要に応じて修正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発行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注文詳細画面「正式発行する」→ PDFが永続保存される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通知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パートナーにメールが自動送信される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承認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パートナーがPDFを閲覧すると自動で承認済みに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86EFAC"/>
                </a:solidFill>
                <a:latin typeface="Meiryo"/>
              </a:rPr>
              <a:t>▸ タスク管理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月次タスク（ORDER_CREATE/ORDER_APPROVE）が自動で完了に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Meiryo"/>
              </a:rPr>
              <a:t>📊 稼働報告書の受領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457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447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パートナーが報告書アップロード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51760" y="196596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963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自動パース（稼働時間抽出）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97180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45643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0215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チェック結果確認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651760" y="397764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462272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079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パートナーが承認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651760" y="4983480"/>
            <a:ext cx="32004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4114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46811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138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請求書に自動反映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188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Meiryo"/>
              </a:rPr>
              <a:t>操作手順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/>
            <a:r>
              <a:rPr sz="1000" b="0">
                <a:solidFill>
                  <a:srgbClr val="F1F5F9"/>
                </a:solidFill>
                <a:latin typeface="Meiryo"/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アップロード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パートナー画面 → 稼働報告書 → Excelファイルを選択（複数可）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自動パース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氏名・対象月・日別稼働時間を自動抽出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警告チェック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土日祝の稼働があれば ⚠ 警告表示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氏名マッチ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報告書の氏名と注文書の作業者名を自動照合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承認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パートナーが「承認」→ 自社担当者にメール通知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請求書連携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承認されると請求書のInvoiceItemに稼働時間が自動セット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FDE047"/>
                </a:solidFill>
                <a:latin typeface="Meiryo"/>
              </a:rPr>
              <a:t>▸ 補足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同一作業者・同月の報告書は上書き更新される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eiryo"/>
              </a:rPr>
              <a:t>💰 請求書（支払通知書）の作成・発行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26464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7218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請求書作成（自動 or 手動）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51760" y="192024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249424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9514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請求書 編集画面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51760" y="274320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07238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1810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確認依頼する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651760" y="356616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89534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4106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自社担当者レビュー → 承認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651760" y="438912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718304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6402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パートナーへ支払通知メール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651760" y="521208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4114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541264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86984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Meiryo"/>
              </a:rPr>
              <a:t>パートナーが承認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188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Meiryo"/>
              </a:rPr>
              <a:t>操作手順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/>
            <a:r>
              <a:rPr sz="1000" b="0">
                <a:solidFill>
                  <a:srgbClr val="F1F5F9"/>
                </a:solidFill>
                <a:latin typeface="Meiryo"/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自動作成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稼働報告書が承認されると請求書が自動生成（稼働時間も自動入力）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手動作成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注文基本情報一覧 →「請求書作成」ボタン（注文書が必要）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編集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作業者ごとの稼働時間を入力、精算金額は自動計算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確認依頼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「確認依頼する」ボタンで DRAFT → 確認待ちに遷移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レビュー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自社担当者がPDF確認し「承認」→ パートナーにメール自動送信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差戻し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レビューで問題あれば「差戻し」→ DRAFT に戻る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eiryo"/>
              </a:rPr>
              <a:t>▸ パートナー承認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1F5F9"/>
                </a:solidFill>
                <a:latin typeface="Meiryo"/>
              </a:rPr>
              <a:t>  パートナーが「承認」→ 自社担当者にメール通知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6400800"/>
            <a:ext cx="6217920" cy="457200"/>
          </a:xfrm>
          <a:prstGeom prst="roundRect">
            <a:avLst/>
          </a:prstGeom>
          <a:solidFill>
            <a:srgbClr val="16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100" b="0">
                <a:solidFill>
                  <a:srgbClr val="86EFAC"/>
                </a:solidFill>
                <a:latin typeface="Meiryo"/>
              </a:rPr>
              <a:t>💡 稼働報告書からの自動作成が基本。手動作成は報告書なしで請求書を作りたい場合に使用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ステータス遷移 &amp; 画面マップ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Meiryo"/>
              </a:rPr>
              <a:t>📄 注文書ステータス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411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Meiryo"/>
              </a:rPr>
              <a:t>下書き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783080"/>
            <a:ext cx="3657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737360"/>
            <a:ext cx="2011680" cy="411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Meiryo"/>
              </a:rPr>
              <a:t>未確認（発行済）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1783080"/>
            <a:ext cx="3657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737360"/>
            <a:ext cx="2011680" cy="411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B981"/>
                </a:solidFill>
                <a:latin typeface="Meiryo"/>
              </a:rPr>
              <a:t>承認済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eiryo"/>
              </a:rPr>
              <a:t>💰 請求書ステータス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828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4A3B8"/>
                </a:solidFill>
                <a:latin typeface="Meiryo"/>
              </a:rPr>
              <a:t>下書き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77440" y="3200400"/>
            <a:ext cx="32004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3108960"/>
            <a:ext cx="1828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Meiryo"/>
              </a:rPr>
              <a:t>確認待ち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0560" y="3200400"/>
            <a:ext cx="32004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3108960"/>
            <a:ext cx="1828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B82F6"/>
                </a:solidFill>
                <a:latin typeface="Meiryo"/>
              </a:rPr>
              <a:t>発行済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3200400"/>
            <a:ext cx="32004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3108960"/>
            <a:ext cx="1828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B981"/>
                </a:solidFill>
                <a:latin typeface="Meiryo"/>
              </a:rPr>
              <a:t>パートナー
承認済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00400"/>
            <a:ext cx="320040" cy="32004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3108960"/>
            <a:ext cx="182880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B8A6"/>
                </a:solidFill>
                <a:latin typeface="Meiryo"/>
              </a:rPr>
              <a:t>支払済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🖥 主要画面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6366F1"/>
                </a:solidFill>
                <a:latin typeface="Meiryo"/>
              </a:rPr>
              <a:t>ダッシュボード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タスク一覧・超過警告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66344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10B981"/>
                </a:solidFill>
                <a:latin typeface="Meiryo"/>
              </a:rPr>
              <a:t>注文基本情報一覧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注文書/請求書のワンクリック作成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466344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10B981"/>
                </a:solidFill>
                <a:latin typeface="Meiryo"/>
              </a:rPr>
              <a:t>注文書一覧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全注文の状態確認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59E0B"/>
                </a:solidFill>
                <a:latin typeface="Meiryo"/>
              </a:rPr>
              <a:t>稼働報告書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アップロード・チェック・承認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548640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3B82F6"/>
                </a:solidFill>
                <a:latin typeface="Meiryo"/>
              </a:rPr>
              <a:t>請求書一覧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全請求書の状態確認（DRAFT含む）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8" y="5486400"/>
            <a:ext cx="34747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3B82F6"/>
                </a:solidFill>
                <a:latin typeface="Meiryo"/>
              </a:rPr>
              <a:t>請求書編集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iryo"/>
              </a:rPr>
              <a:t>稼働時間入力・確認依頼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